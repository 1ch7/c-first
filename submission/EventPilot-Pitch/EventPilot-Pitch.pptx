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14" Type="http://schemas.openxmlformats.org/officeDocument/2006/relationships/viewProps" Target="viewProps.xml" /><Relationship Id="rId10" Type="http://schemas.openxmlformats.org/officeDocument/2006/relationships/slide" Target="slides/slide10.xml" /><Relationship Id="rId9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width:1280,height:720,background:'#FAF7F2',position:'relative'}}&gt;&#10;&lt;Box style={{position:'absolute',left:60,top:40,width:1120,height:80}}&gt;&lt;Text style={{fontFamily:'Arial',fontSize:24,fontWeight:'bold',color:'#117F75'}}&gt;C-FIRST · TAYLOR'S UNIVERSITY · DORMATHON TRACK 2&lt;/Text&gt;&lt;/Box&gt;&#10;&lt;Box style={{position:'absolute',left:60,top:175,width:700,height:150}}&gt;&lt;Text style={{fontFamily:'Arial',fontSize:90,fontWeight:'bold',color:'#103B49'}}&gt;EventPilot&lt;/Text&gt;&lt;/Box&gt;&#10;&lt;Box style={{position:'absolute',left:60,top:340,width:680,height:120}}&gt;&lt;Text style={{fontFamily:'Arial',fontSize:34,fontWeight:'bold',color:'#117F75'}}&gt;One brief. A connected, sourced event plan.&lt;/Text&gt;&lt;/Box&gt;&#10;&lt;Box style={{position:'absolute',left:60,top:485,width:690,height:160}}&gt;&lt;Text style={{fontFamily:'Arial',fontSize:24,color:'#103B49',lineHeight:1.35}}&gt;Real specialist tools, transparent date decisions, protected budgets and draft-only outreach. A conditional plan, never a booking.&lt;/Text&gt;&lt;/Box&gt;&#10;&lt;Box style={{position:'absolute',left:805,top:175,width:360,height:380,padding:30,background:'#117F75',gap:24}}&gt;&lt;Text style={{fontFamily:'Arial',fontSize:28,fontWeight:'bold',color:'#FAF7F2'}}&gt;BRIEF&lt;/Text&gt;&lt;Text style={{fontFamily:'Arial',fontSize:28,color:'#FAF7F2'}}&gt;↓ parallel tools&lt;/Text&gt;&lt;Text style={{fontFamily:'Arial',fontSize:28,color:'#FAF7F2'}}&gt;↓ weather re-plan&lt;/Text&gt;&lt;Text style={{fontFamily:'Arial',fontSize:28,color:'#FAF7F2'}}&gt;↓ validation&lt;/Text&gt;&lt;Text style={{fontFamily:'Arial',fontSize:28,fontWeight:'bold',color:'#FAF7F2'}}&gt;EVENT PACK&lt;/Text&gt;&lt;/Box&gt;&#10;&lt;Box style={{position:'absolute',left:60,top:663,width:1100,height:35}}&gt;&lt;Text style={{fontFamily:'Arial',fontSize:14,color:'#103B49'}}&gt;Local prototype verified · No deployed LLM calls claimed&lt;/Text&gt;&lt;/Box&gt;&lt;Box style={{position:'absolute',left:1150,top:663,width:90,height:35}}&gt;&lt;Text style={{fontFamily:'Arial',fontSize:14,color:'#103B49'}}&gt;01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571500" y="381000"/>
            <a:ext cx="10668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17F75"/>
                </a:solidFill>
                <a:latin typeface="Arial"/>
                <a:ea typeface="Arial"/>
              </a:rPr>
              <a:t>C-FIRST · TAYLOR'S UNIVERSITY · DORMATHON TRACK 2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1666875"/>
            <a:ext cx="6667500" cy="1028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0" b="1">
                <a:solidFill>
                  <a:srgbClr val="103B49"/>
                </a:solidFill>
                <a:latin typeface="Arial"/>
                <a:ea typeface="Arial"/>
              </a:rPr>
              <a:t>EventPilot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71500" y="3238500"/>
            <a:ext cx="64770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17F75"/>
                </a:solidFill>
                <a:latin typeface="Arial"/>
                <a:ea typeface="Arial"/>
              </a:rPr>
              <a:t>One brief. A connected, sourced event plan.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571500" y="4619625"/>
            <a:ext cx="657225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Real specialist tools, transparent date decisions, protected budgets and draft-only outreach. A conditional plan, never a booking.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7667625" y="1666875"/>
            <a:ext cx="3429000" cy="3619500"/>
          </a:xfrm>
          <a:prstGeom prst="rect">
            <a:avLst/>
          </a:prstGeom>
          <a:solidFill>
            <a:srgbClr val="117F75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953375" y="195262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F7F2"/>
                </a:solidFill>
                <a:latin typeface="Arial"/>
                <a:ea typeface="Arial"/>
              </a:rPr>
              <a:t>BRIEF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953375" y="250507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>
                <a:solidFill>
                  <a:srgbClr val="FAF7F2"/>
                </a:solidFill>
                <a:latin typeface="Arial"/>
                <a:ea typeface="Arial"/>
              </a:rPr>
              <a:t>↓ parallel tools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953375" y="305752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>
                <a:solidFill>
                  <a:srgbClr val="FAF7F2"/>
                </a:solidFill>
                <a:latin typeface="Arial"/>
                <a:ea typeface="Arial"/>
              </a:rPr>
              <a:t>↓ weather re-plan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953375" y="360997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>
                <a:solidFill>
                  <a:srgbClr val="FAF7F2"/>
                </a:solidFill>
                <a:latin typeface="Arial"/>
                <a:ea typeface="Arial"/>
              </a:rPr>
              <a:t>↓ validation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953375" y="4162425"/>
            <a:ext cx="2857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F7F2"/>
                </a:solidFill>
                <a:latin typeface="Arial"/>
                <a:ea typeface="Arial"/>
              </a:rPr>
              <a:t>EVENT PACK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71500" y="6315075"/>
            <a:ext cx="1047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Local prototype verified · No deployed LLM calls claimed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953750" y="6315075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01 / 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width:1280,height:720,background:'#FAF7F2',position:'relative'}}&gt;&#10;&lt;Box style={{position:'absolute',left:60,top:30,width:1160,height:80}}&gt;&lt;Text style={{fontFamily:'Arial',fontSize:38,fontWeight:'bold',color:'#103B49'}}&gt;Event planning is a connected problem&lt;/Text&gt;&lt;/Box&gt;&#10;&lt;Box style={{position:'absolute',left:60,top:150,width:335,height:300}}&gt;&lt;Text style={{fontFamily:'Arial',fontSize:46,fontWeight:'bold',color:'#117F75'}}&gt;One change.&lt;br /&gt;Many&lt;br /&gt;dependencies.&lt;/Text&gt;&lt;/Box&gt;&#10;&lt;Box style={{position:'absolute',left:60,top:455,width:330,height:170}}&gt;&lt;Text style={{fontFamily:'Arial',fontSize:24,color:'#103B49',lineHeight:1.3}}&gt;Rain changes the venue, budget and outreach. Separate checklists lose these dependencies.&lt;/Text&gt;&lt;/Box&gt;&#10;&lt;Box style={{position:'absolute',left:450,top:160,width:710,height:75,padding:18,background:'#117F75'}}&gt;&lt;Text style={{fontFamily:'Arial',fontSize:27,fontWeight:'bold',color:'#FAF7F2'}}&gt;DATE + WEATHER&lt;/Text&gt;&lt;/Box&gt;&#10;&lt;Box style={{position:'absolute',left:465,top:250,width:680,height:85}}&gt;&lt;Text style={{fontFamily:'Arial',fontSize:30,color:'#103B49'}}&gt;↓ Venue mode + safe logistics&lt;/Text&gt;&lt;/Box&gt;&#10;&lt;Box style={{position:'absolute',left:465,top:340,width:680,height:85}}&gt;&lt;Text style={{fontFamily:'Arial',fontSize:30,color:'#103B49'}}&gt;↓ Budget + programme + people&lt;/Text&gt;&lt;/Box&gt;&#10;&lt;Box style={{position:'absolute',left:465,top:430,width:680,height:85}}&gt;&lt;Text style={{fontFamily:'Arial',fontSize:30,color:'#103B49'}}&gt;↓ Sponsor request + promotion&lt;/Text&gt;&lt;/Box&gt;&#10;&lt;Box style={{position:'absolute',left:450,top:535,width:710,height:90,padding:18,border:'2px solid #117F75'}}&gt;&lt;Text style={{fontFamily:'Arial',fontSize:26,fontWeight:'bold',color:'#103B49'}}&gt;Validate together. Keep approvals explicit.&lt;/Text&gt;&lt;/Box&gt;&#10;&lt;Box style={{position:'absolute',left:60,top:665,width:1050,height:35}}&gt;&lt;Text style={{fontFamily:'Arial',fontSize:14,color:'#103B49'}}&gt;C-First | Taylor's University | Dormathon Track 2&lt;/Text&gt;&lt;/Box&gt;&lt;Box style={{position:'absolute',left:1150,top:665,width:100,height:35}}&gt;&lt;Text style={{fontFamily:'Arial',fontSize:14,color:'#103B49'}}&gt;02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Event planning is a connected problem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3190875" cy="1581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17F75"/>
                </a:solidFill>
                <a:latin typeface="Arial"/>
                <a:ea typeface="Arial"/>
              </a:rPr>
              <a:t>One change.</a:t>
            </a:r>
            <a:endParaRPr/>
          </a:p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17F75"/>
                </a:solidFill>
                <a:latin typeface="Arial"/>
                <a:ea typeface="Arial"/>
              </a:rPr>
              <a:t>Many</a:t>
            </a:r>
            <a:endParaRPr/>
          </a:p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17F75"/>
                </a:solidFill>
                <a:latin typeface="Arial"/>
                <a:ea typeface="Arial"/>
              </a:rPr>
              <a:t>dependencies.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71500" y="4333875"/>
            <a:ext cx="3143250" cy="1428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Rain changes the venue, budget and outreach. Separate checklists lose these dependencies.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286250" y="1524000"/>
            <a:ext cx="6762750" cy="714375"/>
          </a:xfrm>
          <a:prstGeom prst="rect">
            <a:avLst/>
          </a:prstGeom>
          <a:solidFill>
            <a:srgbClr val="117F75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457700" y="1695450"/>
            <a:ext cx="64198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FAF7F2"/>
                </a:solidFill>
                <a:latin typeface="Arial"/>
                <a:ea typeface="Arial"/>
              </a:rPr>
              <a:t>DATE + WEATHER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429125" y="2381250"/>
            <a:ext cx="6477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>
                <a:solidFill>
                  <a:srgbClr val="103B49"/>
                </a:solidFill>
                <a:latin typeface="Arial"/>
                <a:ea typeface="Arial"/>
              </a:rPr>
              <a:t>↓ Venue mode + safe logistics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429125" y="3238500"/>
            <a:ext cx="6477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>
                <a:solidFill>
                  <a:srgbClr val="103B49"/>
                </a:solidFill>
                <a:latin typeface="Arial"/>
                <a:ea typeface="Arial"/>
              </a:rPr>
              <a:t>↓ Budget + programme + people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429125" y="4095750"/>
            <a:ext cx="6477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>
                <a:solidFill>
                  <a:srgbClr val="103B49"/>
                </a:solidFill>
                <a:latin typeface="Arial"/>
                <a:ea typeface="Arial"/>
              </a:rPr>
              <a:t>↓ Sponsor request + promotion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286250" y="5095875"/>
            <a:ext cx="6762750" cy="857250"/>
          </a:xfrm>
          <a:prstGeom prst="rect">
            <a:avLst/>
          </a:prstGeom>
          <a:ln w="25400">
            <a:solidFill>
              <a:srgbClr val="117F75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57700" y="5267325"/>
            <a:ext cx="6419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03B49"/>
                </a:solidFill>
                <a:latin typeface="Arial"/>
                <a:ea typeface="Arial"/>
              </a:rPr>
              <a:t>Validate together. Keep approvals explicit.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C-First | Taylor's University | Dormathon Track 2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 style={{width:1280,height:720,background:'#FAF7F2',position:'relative'}}&gt;&#10;&lt;Box style={{position:'absolute',left:60,top:30,width:1160,height:80}}&gt;&lt;Text style={{fontFamily:'Arial',fontSize:38,fontWeight:'bold',color:'#103B49'}}&gt;Actual tools, actual dependencies&lt;/Text&gt;&lt;/Box&gt;&#10;&lt;Box style={{position:'absolute',left:60,top:140,width:815,height:80,padding:18,background:'#117F75'}}&gt;&lt;Text style={{fontFamily:'Arial',fontSize:26,fontWeight:'bold',color:'#FAF7F2'}}&gt;Goal + sources → Date ∥ Budget ∥ Venue&lt;/Text&gt;&lt;/Box&gt;&#10;&lt;Box style={{position:'absolute',left:80,top:245,width:795,height:90}}&gt;&lt;Text style={{fontFamily:'Arial',fontSize:27,color:'#103B49'}}&gt;↓ Five candidate-weather checks in parallel&lt;br /&gt;↓ Risk threshold → genuine indoor re-plan&lt;/Text&gt;&lt;/Box&gt;&#10;&lt;Box style={{position:'absolute',left:60,top:355,width:815,height:90,padding:18,border:'2px solid #117F75'}}&gt;&lt;Text style={{fontFamily:'Arial',fontSize:25,color:'#103B49'}}&gt;Talent ∥ Sponsors ∥ Programme ∥ Risks&lt;/Text&gt;&lt;/Box&gt;&#10;&lt;Box style={{position:'absolute',left:80,top:475,width:795,height:70}}&gt;&lt;Text style={{fontFamily:'Arial',fontSize:27,color:'#103B49'}}&gt;↓ Outreach ∥ Promotion&lt;/Text&gt;&lt;/Box&gt;&#10;&lt;Box style={{position:'absolute',left:60,top:555,width:815,height:80,padding:18,background:'#117F75'}}&gt;&lt;Text style={{fontFamily:'Arial',fontSize:26,fontWeight:'bold',color:'#FAF7F2'}}&gt;Validation → bounded repair → Event Pack&lt;/Text&gt;&lt;/Box&gt;&#10;&lt;Box style={{position:'absolute',left:930,top:145,width:290,height:160}}&gt;&lt;Text style={{fontFamily:'Arial',fontSize:58,fontWeight:'bold',color:'#117F75'}}&gt;0 LLM&lt;br /&gt;calls&lt;/Text&gt;&lt;/Box&gt;&#10;&lt;Box style={{position:'absolute',left:930,top:340,width:290,height:290}}&gt;&lt;Text style={{fontFamily:'Arial',fontSize:23,color:'#103B49',lineHeight:1.3}}&gt;Deterministic tools.&lt;br /&gt;&lt;br /&gt;Keyless activation incomplete.&lt;br /&gt;&lt;br /&gt;Real thread pools.&lt;br /&gt;SQLite + SSE trace.&lt;/Text&gt;&lt;/Box&gt;&#10;&lt;Box style={{position:'absolute',left:60,top:665,width:1050,height:35}}&gt;&lt;Text style={{fontFamily:'Arial',fontSize:14,color:'#103B49'}}&gt;C-First | Taylor's University | Real execution; no simulated progress&lt;/Text&gt;&lt;/Box&gt;&lt;Box style={{position:'absolute',left:1150,top:665,width:100,height:35}}&gt;&lt;Text style={{fontFamily:'Arial',fontSize:14,color:'#103B49'}}&gt;03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Actual tools, actual dependencies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71500" y="1333500"/>
            <a:ext cx="7762875" cy="762000"/>
          </a:xfrm>
          <a:prstGeom prst="rect">
            <a:avLst/>
          </a:prstGeom>
          <a:solidFill>
            <a:srgbClr val="117F75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42950" y="1504950"/>
            <a:ext cx="7419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F7F2"/>
                </a:solidFill>
                <a:latin typeface="Arial"/>
                <a:ea typeface="Arial"/>
              </a:rPr>
              <a:t>Goal + sources → Date ∥ Budget ∥ Venue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62000" y="2333625"/>
            <a:ext cx="7572375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↓ Five candidate-weather checks in parallel</a:t>
            </a:r>
            <a:endParaRPr/>
          </a:p>
          <a:p>
            <a:pPr>
              <a:lnSpc>
                <a:spcPct val="100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↓ Risk threshold → genuine indoor re-plan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571500" y="3381375"/>
            <a:ext cx="7762875" cy="857250"/>
          </a:xfrm>
          <a:prstGeom prst="rect">
            <a:avLst/>
          </a:prstGeom>
          <a:ln w="25400">
            <a:solidFill>
              <a:srgbClr val="117F75"/>
            </a:solidFill>
            <a:prstDash val="solid"/>
          </a:ln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42950" y="3552825"/>
            <a:ext cx="74199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>
                <a:solidFill>
                  <a:srgbClr val="103B49"/>
                </a:solidFill>
                <a:latin typeface="Arial"/>
                <a:ea typeface="Arial"/>
              </a:rPr>
              <a:t>Talent ∥ Sponsors ∥ Programme ∥ Risks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2000" y="4524375"/>
            <a:ext cx="75723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↓ Outreach ∥ Promotion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71500" y="5286375"/>
            <a:ext cx="7762875" cy="762000"/>
          </a:xfrm>
          <a:prstGeom prst="rect">
            <a:avLst/>
          </a:prstGeom>
          <a:solidFill>
            <a:srgbClr val="117F75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2950" y="5457825"/>
            <a:ext cx="7419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F7F2"/>
                </a:solidFill>
                <a:latin typeface="Arial"/>
                <a:ea typeface="Arial"/>
              </a:rPr>
              <a:t>Validation → bounded repair → Event Pack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858250" y="1381125"/>
            <a:ext cx="2762250" cy="1333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17F75"/>
                </a:solidFill>
                <a:latin typeface="Arial"/>
                <a:ea typeface="Arial"/>
              </a:rPr>
              <a:t>0 LLM</a:t>
            </a:r>
            <a:endParaRPr/>
          </a:p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17F75"/>
                </a:solidFill>
                <a:latin typeface="Arial"/>
                <a:ea typeface="Arial"/>
              </a:rPr>
              <a:t>calls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858250" y="3238500"/>
            <a:ext cx="2762250" cy="2400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1725">
                <a:solidFill>
                  <a:srgbClr val="103B49"/>
                </a:solidFill>
                <a:latin typeface="Arial"/>
                <a:ea typeface="Arial"/>
              </a:rPr>
              <a:t>Deterministic tools.</a:t>
            </a:r>
            <a:endParaRPr/>
          </a:p>
          <a:p>
            <a:pPr>
              <a:lnSpc>
                <a:spcPct val="130000"/>
              </a:lnSpc>
            </a:pPr>
            <a:r>
              <a:rPr sz="1725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0000"/>
              </a:lnSpc>
            </a:pPr>
            <a:r>
              <a:rPr lang="en-US" sz="1725">
                <a:solidFill>
                  <a:srgbClr val="103B49"/>
                </a:solidFill>
                <a:latin typeface="Arial"/>
                <a:ea typeface="Arial"/>
              </a:rPr>
              <a:t>Keyless activation incomplete.</a:t>
            </a:r>
            <a:endParaRPr/>
          </a:p>
          <a:p>
            <a:pPr>
              <a:lnSpc>
                <a:spcPct val="130000"/>
              </a:lnSpc>
            </a:pPr>
            <a:r>
              <a:rPr sz="1725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0000"/>
              </a:lnSpc>
            </a:pPr>
            <a:r>
              <a:rPr lang="en-US" sz="1725">
                <a:solidFill>
                  <a:srgbClr val="103B49"/>
                </a:solidFill>
                <a:latin typeface="Arial"/>
                <a:ea typeface="Arial"/>
              </a:rPr>
              <a:t>Real thread pools.</a:t>
            </a:r>
            <a:endParaRPr/>
          </a:p>
          <a:p>
            <a:pPr>
              <a:lnSpc>
                <a:spcPct val="130000"/>
              </a:lnSpc>
            </a:pPr>
            <a:r>
              <a:rPr lang="en-US" sz="1725">
                <a:solidFill>
                  <a:srgbClr val="103B49"/>
                </a:solidFill>
                <a:latin typeface="Arial"/>
                <a:ea typeface="Arial"/>
              </a:rPr>
              <a:t>SQLite + SSE trace.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C-First | Taylor's University | Real execution; no simulated progress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3" name="" descr="&lt;Slide style={{width:1280,height:720,background:'#FAF7F2',position:'relative'}}&gt;&#10;&lt;Box style={{position:'absolute',left:60,top:30,width:1160,height:80}}&gt;&lt;Text style={{fontFamily:'Arial',fontSize:38,fontWeight:'bold',color:'#103B49'}}&gt;From brief to editable assumptions&lt;/Text&gt;&lt;/Box&gt;&#10;&lt;Box style={{position:'absolute',left:60,top:145,width:1150,height:140,padding:22,border:'2px solid #117F75'}}&gt;&lt;Text style={{fontFamily:'Arial',fontSize:29,color:'#103B49'}}&gt;I want to organize a charity event at my university in March with a budget of RM2k.&lt;/Text&gt;&lt;/Box&gt;&#10;&lt;Box style={{position:'absolute',left:60,top:325,width:475,height:310}}&gt;&lt;Text style={{fontFamily:'Arial',fontSize:24,color:'#103B49',lineHeight:1.4}}&gt;EXPLICIT INPUT&lt;br /&gt;&lt;br /&gt;Charity event&lt;br /&gt;March&lt;br /&gt;RM2,000 ceiling&lt;/Text&gt;&lt;/Box&gt;&#10;&lt;Box style={{position:'absolute',left:550,top:325,width:660,height:310}}&gt;&lt;Text style={{fontFamily:'Arial',fontSize:24,color:'#117F75',lineHeight:1.4}}&gt;DISCLOSED DEFAULTS&lt;br /&gt;&lt;br /&gt;Next March: 2027 at verification&lt;br /&gt;100 attendees; Taylor's Lakeside&lt;br /&gt;Subang Jaya; RM1,400 organiser funds&lt;br /&gt;Beneficiary remains unconfirmed&lt;/Text&gt;&lt;/Box&gt;&#10;&lt;Box style={{position:'absolute',left:60,top:665,width:1050,height:35}}&gt;&lt;Text style={{fontFamily:'Arial',fontSize:14,color:'#103B49'}}&gt;MYT planning date: 10 October 2026 | Defaults can be overridden before a new run&lt;/Text&gt;&lt;/Box&gt;&lt;Box style={{position:'absolute',left:1150,top:665,width:100,height:35}}&gt;&lt;Text style={{fontFamily:'Arial',fontSize:14,color:'#103B49'}}&gt;04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From brief to editable assumptions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571500" y="1381125"/>
            <a:ext cx="10953750" cy="1333500"/>
          </a:xfrm>
          <a:prstGeom prst="rect">
            <a:avLst/>
          </a:prstGeom>
          <a:ln w="25400">
            <a:solidFill>
              <a:srgbClr val="117F75"/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81050" y="1590675"/>
            <a:ext cx="10534650" cy="333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>
                <a:solidFill>
                  <a:srgbClr val="103B49"/>
                </a:solidFill>
                <a:latin typeface="Arial"/>
                <a:ea typeface="Arial"/>
              </a:rPr>
              <a:t>I want to organize a charity event at my university in March with a budget of RM2k.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71500" y="3095625"/>
            <a:ext cx="4524375" cy="1924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EXPLICIT INPUT</a:t>
            </a:r>
            <a:endParaRPr/>
          </a:p>
          <a:p>
            <a:pPr>
              <a:lnSpc>
                <a:spcPct val="140000"/>
              </a:lnSpc>
            </a:pPr>
            <a:r>
              <a:rPr sz="180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Charity event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March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RM2,000 ceiling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238750" y="3095625"/>
            <a:ext cx="6286500" cy="2305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>
                <a:solidFill>
                  <a:srgbClr val="117F75"/>
                </a:solidFill>
                <a:latin typeface="Arial"/>
                <a:ea typeface="Arial"/>
              </a:rPr>
              <a:t>DISCLOSED DEFAULTS</a:t>
            </a:r>
            <a:endParaRPr/>
          </a:p>
          <a:p>
            <a:pPr>
              <a:lnSpc>
                <a:spcPct val="140000"/>
              </a:lnSpc>
            </a:pPr>
            <a:r>
              <a:rPr sz="1800">
                <a:solidFill>
                  <a:srgbClr val="117F75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17F75"/>
                </a:solidFill>
                <a:latin typeface="Arial"/>
                <a:ea typeface="Arial"/>
              </a:rPr>
              <a:t>Next March: 2027 at verification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17F75"/>
                </a:solidFill>
                <a:latin typeface="Arial"/>
                <a:ea typeface="Arial"/>
              </a:rPr>
              <a:t>100 attendees; Taylor's Lakeside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17F75"/>
                </a:solidFill>
                <a:latin typeface="Arial"/>
                <a:ea typeface="Arial"/>
              </a:rPr>
              <a:t>Subang Jaya; RM1,400 organiser funds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17F75"/>
                </a:solidFill>
                <a:latin typeface="Arial"/>
                <a:ea typeface="Arial"/>
              </a:rPr>
              <a:t>Beneficiary remains unconfirmed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MYT planning date: 10 October 2026 | Defaults can be overridden before a new run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2" name="" descr="&lt;Slide style={{width:1280,height:720,background:'#FAF7F2',position:'relative'}}&gt;&#10;&lt;Box style={{position:'absolute',left:60,top:30,width:1160,height:80}}&gt;&lt;Text style={{fontFamily:'Arial',fontSize:38,fontWeight:'bold',color:'#103B49'}}&gt;Weather changes the plan&lt;/Text&gt;&lt;/Box&gt;&#10;&lt;Box style={{position:'absolute',left:60,top:145,width:490,height:170}}&gt;&lt;Text style={{fontFamily:'Arial',fontSize:118,fontWeight:'bold',color:'#117F75'}}&gt;80%&lt;/Text&gt;&lt;/Box&gt;&#10;&lt;Box style={{position:'absolute',left:60,top:315,width:495,height:220}}&gt;&lt;Text style={{fontFamily:'Arial',fontSize:26,color:'#103B49',lineHeight:1.3}}&gt;8 wet observations / 10 years&lt;br /&gt;20 March, 2016–2025&lt;br /&gt;&lt;br /&gt;Historical climatology.&lt;br /&gt;Not an event-date forecast.&lt;/Text&gt;&lt;/Box&gt;&#10;&lt;Box style={{position:'absolute',left:60,top:550,width:495,height:80}}&gt;&lt;Text style={{fontFamily:'Arial',fontSize:19,color:'#103B49'}}&gt;Open-Meteo sourced Subang Jaya grid.&lt;br /&gt;Wet day ≥1 mm; city proxy, not campus station.&lt;/Text&gt;&lt;/Box&gt;&#10;&lt;Box style={{position:'absolute',left:620,top:155,width:570,height:120,padding:20,background:'#EF9C53'}}&gt;&lt;Text style={{fontFamily:'Arial',fontSize:29,fontWeight:'bold',color:'#103B49'}}&gt;Planning policy:&lt;br /&gt;risk above 40% → indoor Plan B&lt;/Text&gt;&lt;/Box&gt;&#10;&lt;Box style={{position:'absolute',left:640,top:320,width:540,height:180}}&gt;&lt;Text style={{fontFamily:'Arial',fontSize:27,color:'#103B49',lineHeight:1.4}}&gt;↓ Indoor venue mode&lt;br /&gt;↓ Budget reallocation&lt;br /&gt;↓ Programme, risks and draft logistics&lt;/Text&gt;&lt;/Box&gt;&#10;&lt;Box style={{position:'absolute',left:620,top:555,width:570,height:80,padding:18,border:'2px solid #117F75'}}&gt;&lt;Text style={{fontFamily:'Arial',fontSize:24,color:'#103B49'}}&gt;Same RM2,000 ceiling. Real re-plan trace.&lt;/Text&gt;&lt;/Box&gt;&#10;&lt;Box style={{position:'absolute',left:60,top:665,width:1050,height:35}}&gt;&lt;Text style={{fontFamily:'Arial',fontSize:14,color:'#103B49'}}&gt;Source evidence is displayed | Threshold is a planning assumption, not an official alert&lt;/Text&gt;&lt;/Box&gt;&lt;Box style={{position:'absolute',left:1150,top:665,width:100,height:35}}&gt;&lt;Text style={{fontFamily:'Arial',fontSize:14,color:'#103B49'}}&gt;05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Weather changes the plan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1500" y="1381125"/>
            <a:ext cx="4667250" cy="1352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850" b="1">
                <a:solidFill>
                  <a:srgbClr val="117F75"/>
                </a:solidFill>
                <a:latin typeface="Arial"/>
                <a:ea typeface="Arial"/>
              </a:rPr>
              <a:t>80%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71500" y="3000375"/>
            <a:ext cx="4714875" cy="1933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8 wet observations / 10 years</a:t>
            </a:r>
            <a:endParaRPr/>
          </a:p>
          <a:p>
            <a:pPr>
              <a:lnSpc>
                <a:spcPct val="130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20 March, 2016–2025</a:t>
            </a:r>
            <a:endParaRPr/>
          </a:p>
          <a:p>
            <a:pPr>
              <a:lnSpc>
                <a:spcPct val="130000"/>
              </a:lnSpc>
            </a:pPr>
            <a:r>
              <a:rPr sz="195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0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Historical climatology.</a:t>
            </a:r>
            <a:endParaRPr/>
          </a:p>
          <a:p>
            <a:pPr>
              <a:lnSpc>
                <a:spcPct val="130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Not an event-date forecast.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71500" y="5238750"/>
            <a:ext cx="47148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03B49"/>
                </a:solidFill>
                <a:latin typeface="Arial"/>
                <a:ea typeface="Arial"/>
              </a:rPr>
              <a:t>Open-Meteo sourced Subang Jaya grid.</a:t>
            </a:r>
            <a:endParaRPr/>
          </a:p>
          <a:p>
            <a:pPr>
              <a:lnSpc>
                <a:spcPct val="100000"/>
              </a:lnSpc>
            </a:pPr>
            <a:r>
              <a:rPr lang="en-US" sz="1425">
                <a:solidFill>
                  <a:srgbClr val="103B49"/>
                </a:solidFill>
                <a:latin typeface="Arial"/>
                <a:ea typeface="Arial"/>
              </a:rPr>
              <a:t>Wet day ≥1 mm; city proxy, not campus station.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905500" y="1476375"/>
            <a:ext cx="5429250" cy="1143000"/>
          </a:xfrm>
          <a:prstGeom prst="rect">
            <a:avLst/>
          </a:prstGeom>
          <a:solidFill>
            <a:srgbClr val="EF9C53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0" y="1666875"/>
            <a:ext cx="504825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103B49"/>
                </a:solidFill>
                <a:latin typeface="Arial"/>
                <a:ea typeface="Arial"/>
              </a:rPr>
              <a:t>Planning policy:</a:t>
            </a:r>
            <a:endParaRPr/>
          </a:p>
          <a:p>
            <a:pPr>
              <a:lnSpc>
                <a:spcPct val="100000"/>
              </a:lnSpc>
            </a:pPr>
            <a:r>
              <a:rPr lang="en-US" sz="2175" b="1">
                <a:solidFill>
                  <a:srgbClr val="103B49"/>
                </a:solidFill>
                <a:latin typeface="Arial"/>
                <a:ea typeface="Arial"/>
              </a:rPr>
              <a:t>risk above 40% → indoor Plan B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0" y="3048000"/>
            <a:ext cx="5143500" cy="1304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↓ Indoor venue mode</a:t>
            </a:r>
            <a:endParaRPr/>
          </a:p>
          <a:p>
            <a:pPr>
              <a:lnSpc>
                <a:spcPct val="140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↓ Budget reallocation</a:t>
            </a:r>
            <a:endParaRPr/>
          </a:p>
          <a:p>
            <a:pPr>
              <a:lnSpc>
                <a:spcPct val="140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↓ Programme, risks and draft logistics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905500" y="5286375"/>
            <a:ext cx="5429250" cy="762000"/>
          </a:xfrm>
          <a:prstGeom prst="rect">
            <a:avLst/>
          </a:prstGeom>
          <a:ln w="25400">
            <a:solidFill>
              <a:srgbClr val="117F75"/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76950" y="5457825"/>
            <a:ext cx="5086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Same RM2,000 ceiling. Real re-plan trace.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Source evidence is displayed | Threshold is a planning assumption, not an official alert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75" name="" descr="&lt;Slide style={{width:1280,height:720,background:'#FAF7F2',position:'relative'}}&gt;&#10;&lt;Box style={{position:'absolute',left:60,top:30,width:1160,height:80}}&gt;&lt;Text style={{fontFamily:'Arial',fontSize:38,fontWeight:'bold',color:'#103B49'}}&gt;Every ringgit has a boundary&lt;/Text&gt;&lt;/Box&gt;&#10;&lt;Box style={{position:'absolute',left:60,top:140,width:650,height:75}}&gt;&lt;Text style={{fontFamily:'Arial',fontSize:26,fontWeight:'bold',color:'#117F75'}}&gt;ESTIMATED INDOOR ALLOCATIONS&lt;/Text&gt;&lt;/Box&gt;&#10;&lt;Box style={{position:'absolute',left:60,top:225,width:680,height:360}}&gt;&lt;Text style={{fontFamily:'Arial',fontSize:25,color:'#103B49',lineHeight:1.45}}&gt;Venue / cover: RM440&lt;br /&gt;AV: RM280 · Refreshments: RM400&lt;br /&gt;Promotion: RM120 · Talent / MC: RM180&lt;br /&gt;Operations / first aid: RM140&lt;br /&gt;Accessibility / charity logistics: RM200&lt;br /&gt;&lt;span style={{fontWeight:'bold',color:'#117F75'}}&gt;Protected reserve: RM240&lt;/span&gt;&lt;/Text&gt;&lt;/Box&gt;&#10;&lt;Box style={{position:'absolute',left:790,top:145,width:410,height:160}}&gt;&lt;Text style={{fontFamily:'Arial',fontSize:63,fontWeight:'bold',color:'#117F75'}}&gt;RM2,000&lt;/Text&gt;&lt;/Box&gt;&#10;&lt;Box style={{position:'absolute',left:790,top:300,width:410,height:240}}&gt;&lt;Text style={{fontFamily:'Arial',fontSize:26,color:'#103B49',lineHeight:1.35}}&gt;RM1,400 organiser funds&lt;br /&gt;+ RM600 unconfirmed gap&lt;br /&gt;&lt;br /&gt;12% reserve included.&lt;br /&gt;Integer-cent reconciliation.&lt;/Text&gt;&lt;/Box&gt;&#10;&lt;Box style={{position:'absolute',left:60,top:580,width:1140,height:65,padding:15,background:'#EF9C53'}}&gt;&lt;Text style={{fontFamily:'Arial',fontSize:24,color:'#103B49'}}&gt;Not vendor quotes. Sponsor asks are alternatives, not secured income.&lt;/Text&gt;&lt;/Box&gt;&#10;&lt;Box style={{position:'absolute',left:60,top:665,width:1050,height:35}}&gt;&lt;Text style={{fontFamily:'Arial',fontSize:14,color:'#103B49'}}&gt;C-First | Taylor's University | Actual canonical plan budget&lt;/Text&gt;&lt;/Box&gt;&lt;Box style={{position:'absolute',left:1150,top:665,width:100,height:35}}&gt;&lt;Text style={{fontFamily:'Arial',fontSize:14,color:'#103B49'}}&gt;06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Every ringgit has a boundary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1333500"/>
            <a:ext cx="6191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17F75"/>
                </a:solidFill>
                <a:latin typeface="Arial"/>
                <a:ea typeface="Arial"/>
              </a:rPr>
              <a:t>ESTIMATED INDOOR ALLOCATIONS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6477000" cy="2486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875">
                <a:solidFill>
                  <a:srgbClr val="103B49"/>
                </a:solidFill>
                <a:latin typeface="Arial"/>
                <a:ea typeface="Arial"/>
              </a:rPr>
              <a:t>Venue / cover: RM440</a:t>
            </a:r>
            <a:endParaRPr/>
          </a:p>
          <a:p>
            <a:pPr>
              <a:lnSpc>
                <a:spcPct val="145000"/>
              </a:lnSpc>
            </a:pPr>
            <a:r>
              <a:rPr lang="en-US" sz="1875">
                <a:solidFill>
                  <a:srgbClr val="103B49"/>
                </a:solidFill>
                <a:latin typeface="Arial"/>
                <a:ea typeface="Arial"/>
              </a:rPr>
              <a:t>AV: RM280 · Refreshments: RM400</a:t>
            </a:r>
            <a:endParaRPr/>
          </a:p>
          <a:p>
            <a:pPr>
              <a:lnSpc>
                <a:spcPct val="145000"/>
              </a:lnSpc>
            </a:pPr>
            <a:r>
              <a:rPr lang="en-US" sz="1875">
                <a:solidFill>
                  <a:srgbClr val="103B49"/>
                </a:solidFill>
                <a:latin typeface="Arial"/>
                <a:ea typeface="Arial"/>
              </a:rPr>
              <a:t>Promotion: RM120 · Talent / MC: RM180</a:t>
            </a:r>
            <a:endParaRPr/>
          </a:p>
          <a:p>
            <a:pPr>
              <a:lnSpc>
                <a:spcPct val="145000"/>
              </a:lnSpc>
            </a:pPr>
            <a:r>
              <a:rPr lang="en-US" sz="1875">
                <a:solidFill>
                  <a:srgbClr val="103B49"/>
                </a:solidFill>
                <a:latin typeface="Arial"/>
                <a:ea typeface="Arial"/>
              </a:rPr>
              <a:t>Operations / first aid: RM140</a:t>
            </a:r>
            <a:endParaRPr/>
          </a:p>
          <a:p>
            <a:pPr>
              <a:lnSpc>
                <a:spcPct val="145000"/>
              </a:lnSpc>
            </a:pPr>
            <a:r>
              <a:rPr lang="en-US" sz="1875">
                <a:solidFill>
                  <a:srgbClr val="103B49"/>
                </a:solidFill>
                <a:latin typeface="Arial"/>
                <a:ea typeface="Arial"/>
              </a:rPr>
              <a:t>Accessibility / charity logistics: RM200</a:t>
            </a:r>
            <a:endParaRPr/>
          </a:p>
          <a:p>
            <a:pPr>
              <a:lnSpc>
                <a:spcPct val="145000"/>
              </a:lnSpc>
            </a:pPr>
            <a:r>
              <a:rPr lang="en-US" sz="1875" b="1">
                <a:solidFill>
                  <a:srgbClr val="117F75"/>
                </a:solidFill>
                <a:latin typeface="Arial"/>
                <a:ea typeface="Arial"/>
              </a:rPr>
              <a:t>Protected reserve: RM240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524750" y="1381125"/>
            <a:ext cx="3905250" cy="723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725" b="1">
                <a:solidFill>
                  <a:srgbClr val="117F75"/>
                </a:solidFill>
                <a:latin typeface="Arial"/>
                <a:ea typeface="Arial"/>
              </a:rPr>
              <a:t>RM2,000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524750" y="2857500"/>
            <a:ext cx="3905250" cy="20097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RM1,400 organiser funds</a:t>
            </a:r>
            <a:endParaRPr/>
          </a:p>
          <a:p>
            <a:pPr>
              <a:lnSpc>
                <a:spcPct val="135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+ RM600 unconfirmed gap</a:t>
            </a:r>
            <a:endParaRPr/>
          </a:p>
          <a:p>
            <a:pPr>
              <a:lnSpc>
                <a:spcPct val="135000"/>
              </a:lnSpc>
            </a:pPr>
            <a:r>
              <a:rPr sz="195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5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12% reserve included.</a:t>
            </a:r>
            <a:endParaRPr/>
          </a:p>
          <a:p>
            <a:pPr>
              <a:lnSpc>
                <a:spcPct val="135000"/>
              </a:lnSpc>
            </a:pPr>
            <a:r>
              <a:rPr lang="en-US" sz="1950">
                <a:solidFill>
                  <a:srgbClr val="103B49"/>
                </a:solidFill>
                <a:latin typeface="Arial"/>
                <a:ea typeface="Arial"/>
              </a:rPr>
              <a:t>Integer-cent reconciliation.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571500" y="5524500"/>
            <a:ext cx="10858500" cy="619125"/>
          </a:xfrm>
          <a:prstGeom prst="rect">
            <a:avLst/>
          </a:prstGeom>
          <a:solidFill>
            <a:srgbClr val="EF9C53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14375" y="5667375"/>
            <a:ext cx="10572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Not vendor quotes. Sponsor asks are alternatives, not secured income.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C-First | Taylor's University | Actual canonical plan budget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 style={{width:1280,height:720,background:'#FAF7F2',position:'relative'}}&gt;&#10;&lt;Box style={{position:'absolute',left:60,top:30,width:1160,height:80}}&gt;&lt;Text style={{fontFamily:'Arial',fontSize:38,fontWeight:'bold',color:'#103B49'}}&gt;Sources qualify the outreach&lt;/Text&gt;&lt;/Box&gt;&#10;&lt;Box style={{position:'absolute',left:60,top:150,width:530,height:130}}&gt;&lt;Text style={{fontFamily:'Arial',fontSize:54,fontWeight:'bold',color:'#117F75'}}&gt;9 prospects.&lt;br /&gt;5 suitable routes.&lt;/Text&gt;&lt;/Box&gt;&#10;&lt;Box style={{position:'absolute',left:60,top:330,width:530,height:260}}&gt;&lt;Text style={{fontFamily:'Arial',fontSize:24,color:'#103B49',lineHeight:1.4}}&gt;Printcious · SQ PrintBar&lt;br /&gt;Gigi Coffee · Signature Market&lt;br /&gt;VICTOR Malaysia&lt;br /&gt;&lt;br /&gt;First-party contact evidence.&lt;br /&gt;Unknown routes stay blank.&lt;/Text&gt;&lt;/Box&gt;&#10;&lt;Box style={{position:'absolute',left:670,top:150,width:530,height:180,padding:24,background:'#117F75'}}&gt;&lt;Text style={{fontFamily:'Arial',fontSize:40,fontWeight:'bold',color:'#FAF7F2'}}&gt;10 Gmail drafts&lt;br /&gt;0 emails sent&lt;/Text&gt;&lt;/Box&gt;&#10;&lt;Box style={{position:'absolute',left:670,top:370,width:530,height:250}}&gt;&lt;Text style={{fontFamily:'Arial',fontSize:24,color:'#103B49',lineHeight:1.3}}&gt;5 initial + 5 conditional follow-ups.&lt;br /&gt;Owner WorkBuddy connector.&lt;br /&gt;All verified with DRAFT labels.&lt;br /&gt;&lt;br /&gt;Visitor OAuth is unconfigured.&lt;br /&gt;No sending or commitments claimed.&lt;/Text&gt;&lt;/Box&gt;&#10;&lt;Box style={{position:'absolute',left:60,top:665,width:1050,height:35}}&gt;&lt;Text style={{fontFamily:'Arial',fontSize:14,color:'#103B49'}}&gt;Research snapshot: 10 October 2026 | Private mailbox identifiers excluded&lt;/Text&gt;&lt;/Box&gt;&lt;Box style={{position:'absolute',left:1150,top:665,width:100,height:35}}&gt;&lt;Text style={{fontFamily:'Arial',fontSize:14,color:'#103B49'}}&gt;07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Sources qualify the outreach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5048250" cy="1238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17F75"/>
                </a:solidFill>
                <a:latin typeface="Arial"/>
                <a:ea typeface="Arial"/>
              </a:rPr>
              <a:t>9 prospects.</a:t>
            </a:r>
            <a:endParaRPr/>
          </a:p>
          <a:p>
            <a:pPr>
              <a:lnSpc>
                <a:spcPct val="100000"/>
              </a:lnSpc>
            </a:pPr>
            <a:r>
              <a:rPr lang="en-US" sz="4050" b="1">
                <a:solidFill>
                  <a:srgbClr val="117F75"/>
                </a:solidFill>
                <a:latin typeface="Arial"/>
                <a:ea typeface="Arial"/>
              </a:rPr>
              <a:t>5 suitable routes.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71500" y="3143250"/>
            <a:ext cx="5048250" cy="2305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Printcious · SQ PrintBar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Gigi Coffee · Signature Market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VICTOR Malaysia</a:t>
            </a:r>
            <a:endParaRPr/>
          </a:p>
          <a:p>
            <a:pPr>
              <a:lnSpc>
                <a:spcPct val="140000"/>
              </a:lnSpc>
            </a:pPr>
            <a:r>
              <a:rPr sz="180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First-party contact evidence.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Unknown routes stay blank.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381750" y="1428750"/>
            <a:ext cx="5048250" cy="1714500"/>
          </a:xfrm>
          <a:prstGeom prst="rect">
            <a:avLst/>
          </a:prstGeom>
          <a:solidFill>
            <a:srgbClr val="117F75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610350" y="1657350"/>
            <a:ext cx="459105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F7F2"/>
                </a:solidFill>
                <a:latin typeface="Arial"/>
                <a:ea typeface="Arial"/>
              </a:rPr>
              <a:t>10 Gmail drafts</a:t>
            </a:r>
            <a:endParaRPr/>
          </a:p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F7F2"/>
                </a:solidFill>
                <a:latin typeface="Arial"/>
                <a:ea typeface="Arial"/>
              </a:rPr>
              <a:t>0 emails sent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381750" y="3524250"/>
            <a:ext cx="5048250" cy="21431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5 initial + 5 conditional follow-ups.</a:t>
            </a:r>
            <a:endParaRPr/>
          </a:p>
          <a:p>
            <a:pPr>
              <a:lnSpc>
                <a:spcPct val="13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Owner WorkBuddy connector.</a:t>
            </a:r>
            <a:endParaRPr/>
          </a:p>
          <a:p>
            <a:pPr>
              <a:lnSpc>
                <a:spcPct val="13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All verified with DRAFT labels.</a:t>
            </a:r>
            <a:endParaRPr/>
          </a:p>
          <a:p>
            <a:pPr>
              <a:lnSpc>
                <a:spcPct val="130000"/>
              </a:lnSpc>
            </a:pPr>
            <a:r>
              <a:rPr sz="180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Visitor OAuth is unconfigured.</a:t>
            </a:r>
            <a:endParaRPr/>
          </a:p>
          <a:p>
            <a:pPr>
              <a:lnSpc>
                <a:spcPct val="13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No sending or commitments claimed.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Research snapshot: 10 October 2026 | Private mailbox identifiers excluded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6" name="" descr="&lt;Slide style={{width:1280,height:720,background:'#FAF7F2',position:'relative'}}&gt;&#10;&lt;Box style={{position:'absolute',left:60,top:30,width:1160,height:80}}&gt;&lt;Text style={{fontFamily:'Arial',fontSize:38,fontWeight:'bold',color:'#103B49'}}&gt;A product organisers can inspect&lt;/Text&gt;&lt;/Box&gt;&#10;&lt;Box style={{position:'absolute',left:60,top:145,width:700,height:490}}&gt;&lt;Image src=&quot;assets/home-desktop.png&quot; style={{width:700,height:486,objectFit:'contain'}} /&gt;&lt;/Box&gt;&#10;&lt;Box style={{position:'absolute',left:815,top:145,width:390,height:130}}&gt;&lt;Text style={{fontFamily:'Arial',fontSize:38,fontWeight:'bold',color:'#117F75'}}&gt;9 inspectable tabs&lt;/Text&gt;&lt;/Box&gt;&#10;&lt;Box style={{position:'absolute',left:815,top:280,width:390,height:350}}&gt;&lt;Text style={{fontFamily:'Arial',fontSize:24,color:'#103B49',lineHeight:1.35}}&gt;Actual local interface.&lt;br /&gt;&lt;br /&gt;Saved SQLite runs.&lt;br /&gt;Source links + real trace.&lt;br /&gt;PDF and unsent .eml.&lt;br /&gt;Desktop + 390px mobile.&lt;br /&gt;&lt;br /&gt;Capability links, not authenticated privacy.&lt;/Text&gt;&lt;/Box&gt;&#10;&lt;Box style={{position:'absolute',left:60,top:665,width:1050,height:35}}&gt;&lt;Text style={{fontFamily:'Arial',fontSize:14,color:'#103B49'}}&gt;Actual browser screenshot | No public-deployment screenshot claimed&lt;/Text&gt;&lt;/Box&gt;&lt;Box style={{position:'absolute',left:1150,top:665,width:100,height:35}}&gt;&lt;Text style={{fontFamily:'Arial',fontSize:14,color:'#103B49'}}&gt;08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A product organisers can inspect</a:t>
            </a:r>
            <a:endParaRPr/>
          </a:p>
        </p:txBody>
      </p:sp>
      <p:pic>
        <p:nvPicPr>
          <p:cNvPr id="99" name=""/>
          <p:cNvPicPr>
            <a:picLocks noChangeAspect="1"/>
          </p:cNvPicPr>
          <p:nvPr/>
        </p:nvPicPr>
        <p:blipFill>
          <a:blip r:embed="rId1"/>
          <a:srcRect l="0" t="11" r="0" b="11"/>
          <a:stretch>
            <a:fillRect/>
          </a:stretch>
        </p:blipFill>
        <p:spPr>
          <a:xfrm rot="0" flipH="0" flipV="0">
            <a:off x="571500" y="1381125"/>
            <a:ext cx="6667500" cy="4629150"/>
          </a:xfrm>
          <a:prstGeom prst="rect">
            <a:avLst/>
          </a:prstGeom>
          <a:ln/>
        </p:spPr>
      </p:pic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762875" y="1381125"/>
            <a:ext cx="37147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17F75"/>
                </a:solidFill>
                <a:latin typeface="Arial"/>
                <a:ea typeface="Arial"/>
              </a:rPr>
              <a:t>9 inspectable tabs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762875" y="2667000"/>
            <a:ext cx="3714750" cy="3333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Actual local interface.</a:t>
            </a:r>
            <a:endParaRPr/>
          </a:p>
          <a:p>
            <a:pPr>
              <a:lnSpc>
                <a:spcPct val="135000"/>
              </a:lnSpc>
            </a:pPr>
            <a:r>
              <a:rPr sz="180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5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Saved SQLite runs.</a:t>
            </a:r>
            <a:endParaRPr/>
          </a:p>
          <a:p>
            <a:pPr>
              <a:lnSpc>
                <a:spcPct val="135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Source links + real trace.</a:t>
            </a:r>
            <a:endParaRPr/>
          </a:p>
          <a:p>
            <a:pPr>
              <a:lnSpc>
                <a:spcPct val="135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PDF and unsent .eml.</a:t>
            </a:r>
            <a:endParaRPr/>
          </a:p>
          <a:p>
            <a:pPr>
              <a:lnSpc>
                <a:spcPct val="135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Desktop + 390px mobile.</a:t>
            </a:r>
            <a:endParaRPr/>
          </a:p>
          <a:p>
            <a:pPr>
              <a:lnSpc>
                <a:spcPct val="135000"/>
              </a:lnSpc>
            </a:pPr>
            <a:r>
              <a:rPr sz="180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5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Capability links, not authenticated privacy.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Actual browser screenshot | No public-deployment screenshot claimed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width:1280,height:720,background:'#FAF7F2',position:'relative'}}&gt;&#10;&lt;Box style={{position:'absolute',left:60,top:30,width:1160,height:80}}&gt;&lt;Text style={{fontFamily:'Arial',fontSize:38,fontWeight:'bold',color:'#103B49'}}&gt;Evidence, not a success animation&lt;/Text&gt;&lt;/Box&gt;&#10;&lt;Box style={{position:'absolute',left:60,top:150,width:395,height:160}}&gt;&lt;Text style={{fontFamily:'Arial',fontSize:110,fontWeight:'bold',color:'#117F75'}}&gt;76&lt;/Text&gt;&lt;/Box&gt;&#10;&lt;Box style={{position:'absolute',left:60,top:340,width:395,height:240}}&gt;&lt;Text style={{fontFamily:'Arial',fontSize:27,color:'#103B49',lineHeight:1.35}}&gt;Tests passed.&lt;br /&gt;1 optional live test skipped.&lt;br /&gt;&lt;br /&gt;Current-source loopback queue safeguard verified.&lt;/Text&gt;&lt;/Box&gt;&#10;&lt;Box style={{position:'absolute',left:520,top:150,width:680,height:465}}&gt;&lt;Text style={{fontFamily:'Arial',fontSize:24,color:'#103B49',lineHeight:1.4}}&gt;PASS: two actual local scenarios&lt;br /&gt;PASS: repaired canonical browser flow&lt;br /&gt;PASS: 10 owner Gmail drafts&lt;br /&gt;&lt;br /&gt;SQLite lifecycle race reproduced,&lt;br /&gt;fixed and regression-tested.&lt;br /&gt;OPEN: public deploy + source release&lt;br /&gt;OPEN: final presentation PDF review&lt;/Text&gt;&lt;/Box&gt;&#10;&lt;Box style={{position:'absolute',left:60,top:665,width:1050,height:35}}&gt;&lt;Text style={{fontFamily:'Arial',fontSize:14,color:'#103B49'}}&gt;Tests are not deployed evidence | Failures remain visible; no public-release PASS&lt;/Text&gt;&lt;/Box&gt;&lt;Box style={{position:'absolute',left:1150,top:665,width:100,height:35}}&gt;&lt;Text style={{fontFamily:'Arial',fontSize:14,color:'#103B49'}}&gt;09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03B49"/>
                </a:solidFill>
                <a:latin typeface="Arial"/>
                <a:ea typeface="Arial"/>
              </a:rPr>
              <a:t>Evidence, not a success animation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3762375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117F75"/>
                </a:solidFill>
                <a:latin typeface="Arial"/>
                <a:ea typeface="Arial"/>
              </a:rPr>
              <a:t>76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71500" y="3238500"/>
            <a:ext cx="3762375" cy="2085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Tests passed.</a:t>
            </a:r>
            <a:endParaRPr/>
          </a:p>
          <a:p>
            <a:pPr>
              <a:lnSpc>
                <a:spcPct val="135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1 optional live test skipped.</a:t>
            </a:r>
            <a:endParaRPr/>
          </a:p>
          <a:p>
            <a:pPr>
              <a:lnSpc>
                <a:spcPct val="135000"/>
              </a:lnSpc>
            </a:pPr>
            <a:r>
              <a:rPr sz="2025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35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Current-source loopback queue safeguard verified.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953000" y="1428750"/>
            <a:ext cx="6477000" cy="30765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PASS: two actual local scenarios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PASS: repaired canonical browser flow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PASS: 10 owner Gmail drafts</a:t>
            </a:r>
            <a:endParaRPr/>
          </a:p>
          <a:p>
            <a:pPr>
              <a:lnSpc>
                <a:spcPct val="140000"/>
              </a:lnSpc>
            </a:pPr>
            <a:r>
              <a:rPr sz="1800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SQLite lifecycle race reproduced,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fixed and regression-tested.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OPEN: public deploy + source release</a:t>
            </a:r>
            <a:endParaRPr/>
          </a:p>
          <a:p>
            <a:pPr>
              <a:lnSpc>
                <a:spcPct val="140000"/>
              </a:lnSpc>
            </a:pPr>
            <a:r>
              <a:rPr lang="en-US" sz="1800">
                <a:solidFill>
                  <a:srgbClr val="103B49"/>
                </a:solidFill>
                <a:latin typeface="Arial"/>
                <a:ea typeface="Arial"/>
              </a:rPr>
              <a:t>OPEN: final presentation PDF review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Tests are not deployed evidence | Failures remain visible; no public-release PASS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5" name="" descr="&lt;Slide style={{width:1280,height:720,background:'#FAF7F2',position:'relative'}}&gt;&#10;&lt;Box style={{position:'absolute',left:60,top:30,width:1160,height:80}}&gt;&lt;Text style={{fontFamily:'Arial',fontSize:24,fontWeight:'bold',color:'#117F75'}}&gt;C-FIRST · TAYLOR'S UNIVERSITY · DORMATHON TRACK 2&lt;/Text&gt;&lt;/Box&gt;&#10;&lt;Box style={{position:'absolute',left:60,top:160,width:1100,height:230}}&gt;&lt;Text style={{fontFamily:'Georgia',fontSize:64,fontWeight:'bold',color:'#103B49'}}&gt;Plan responsibly.&lt;br /&gt;Execute with evidence.&lt;/Text&gt;&lt;/Box&gt;&#10;&lt;Box style={{position:'absolute',left:60,top:430,width:670,height:195}}&gt;&lt;Text style={{fontFamily:'Arial',fontSize:27,color:'#103B49',lineHeight:1.35}}&gt;Connected plans. Cited decisions.&lt;br /&gt;Budgets with boundaries.&lt;br /&gt;Drafts, never sends.&lt;br /&gt;Human approval stays explicit.&lt;/Text&gt;&lt;/Box&gt;&#10;&lt;Box style={{position:'absolute',left:780,top:430,width:420,height:205,padding:22,background:'#EF9C53'}}&gt;&lt;Text style={{fontFamily:'Arial',fontSize:24,fontWeight:'bold',color:'#103B49'}}&gt;RELEASE GATES&lt;br /&gt;&lt;br /&gt;Public deployment&lt;br /&gt;Branch source release&lt;br /&gt;Final PDF verification&lt;/Text&gt;&lt;/Box&gt;&#10;&lt;Box style={{position:'absolute',left:60,top:665,width:1050,height:35}}&gt;&lt;Text style={{fontFamily:'Arial',fontSize:14,color:'#103B49'}}&gt;Locally evidenced prototype | Not yet submission-ready&lt;/Text&gt;&lt;/Box&gt;&lt;Box style={{position:'absolute',left:1150,top:665,width:100,height:35}}&gt;&lt;Text style={{fontFamily:'Arial',fontSize:14,color:'#103B49'}}&gt;10 / 10&lt;/Text&gt;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71500" y="285750"/>
            <a:ext cx="11049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17F75"/>
                </a:solidFill>
                <a:latin typeface="Arial"/>
                <a:ea typeface="Arial"/>
              </a:rPr>
              <a:t>C-FIRST · TAYLOR'S UNIVERSITY · DORMATHON TRACK 2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524000"/>
            <a:ext cx="104775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03B49"/>
                </a:solidFill>
                <a:latin typeface="Georgia"/>
                <a:ea typeface="Georgia"/>
              </a:rPr>
              <a:t>Plan responsibly.</a:t>
            </a:r>
            <a:endParaRPr/>
          </a:p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03B49"/>
                </a:solidFill>
                <a:latin typeface="Georgia"/>
                <a:ea typeface="Georgia"/>
              </a:rPr>
              <a:t>Execute with evidence.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71500" y="4095750"/>
            <a:ext cx="6381750" cy="16668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Connected plans. Cited decisions.</a:t>
            </a:r>
            <a:endParaRPr/>
          </a:p>
          <a:p>
            <a:pPr>
              <a:lnSpc>
                <a:spcPct val="135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Budgets with boundaries.</a:t>
            </a:r>
            <a:endParaRPr/>
          </a:p>
          <a:p>
            <a:pPr>
              <a:lnSpc>
                <a:spcPct val="135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Drafts, never sends.</a:t>
            </a:r>
            <a:endParaRPr/>
          </a:p>
          <a:p>
            <a:pPr>
              <a:lnSpc>
                <a:spcPct val="135000"/>
              </a:lnSpc>
            </a:pPr>
            <a:r>
              <a:rPr lang="en-US" sz="2025">
                <a:solidFill>
                  <a:srgbClr val="103B49"/>
                </a:solidFill>
                <a:latin typeface="Arial"/>
                <a:ea typeface="Arial"/>
              </a:rPr>
              <a:t>Human approval stays explicit.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7429500" y="4095750"/>
            <a:ext cx="4000500" cy="1952625"/>
          </a:xfrm>
          <a:prstGeom prst="rect">
            <a:avLst/>
          </a:prstGeom>
          <a:solidFill>
            <a:srgbClr val="EF9C53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7639050" y="4305300"/>
            <a:ext cx="35814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03B49"/>
                </a:solidFill>
                <a:latin typeface="Arial"/>
                <a:ea typeface="Arial"/>
              </a:rPr>
              <a:t>RELEASE GATES</a:t>
            </a:r>
            <a:endParaRPr/>
          </a:p>
          <a:p>
            <a:pPr>
              <a:lnSpc>
                <a:spcPct val="100000"/>
              </a:lnSpc>
            </a:pPr>
            <a:r>
              <a:rPr sz="1800" b="1">
                <a:solidFill>
                  <a:srgbClr val="103B49"/>
                </a:solidFill>
                <a:latin typeface="Arial"/>
                <a:ea typeface="Arial"/>
              </a:rPr>
              <a:t xml:space="preserve"> </a:t>
            </a:r>
            <a:endParaRPr/>
          </a:p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03B49"/>
                </a:solidFill>
                <a:latin typeface="Arial"/>
                <a:ea typeface="Arial"/>
              </a:rPr>
              <a:t>Public deployment</a:t>
            </a:r>
            <a:endParaRPr/>
          </a:p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03B49"/>
                </a:solidFill>
                <a:latin typeface="Arial"/>
                <a:ea typeface="Arial"/>
              </a:rPr>
              <a:t>Branch source release</a:t>
            </a:r>
            <a:endParaRPr/>
          </a:p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03B49"/>
                </a:solidFill>
                <a:latin typeface="Arial"/>
                <a:ea typeface="Arial"/>
              </a:rPr>
              <a:t>Final PDF verification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71500" y="6334125"/>
            <a:ext cx="1000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Locally evidenced prototype | Not yet submission-ready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953750" y="633412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03B49"/>
                </a:solidFill>
                <a:latin typeface="Arial"/>
                <a:ea typeface="Arial"/>
              </a:rPr>
              <a:t>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2026-10-10T17:46:24Z</dcterms:created>
  <dcterms:modified xsi:type="dcterms:W3CDTF">2026-10-10T17:46:24Z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{"AIGC":{"Label":"1","ContentProducer":"00119111010856365494821B355","ProduceID":"3528fc7e35b644efb9f94993fe3bc236","ReservedCode1":"","ContentPropagator":"00119111010856365494821B355","PropagateID":"3528fc7e35b644efb9f94993fe3bc236","ReservedCode2":""}}</vt:lpwstr>
  </property>
</Properties>
</file>